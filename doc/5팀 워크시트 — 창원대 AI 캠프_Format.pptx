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trictFirstAndLastChars="0" autoCompressPictures="0">
  <p:sldMasterIdLst>
    <p:sldMasterId id="2147483659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Comments="0">
  <p:normalViewPr snapVertSplitter="1">
    <p:restoredLeft sz="12579"/>
    <p:restoredTop sz="9000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presProps" Target="presProps.xml"  /><Relationship Id="rId11" Type="http://schemas.openxmlformats.org/officeDocument/2006/relationships/viewProps" Target="viewProps.xml"  /><Relationship Id="rId12" Type="http://schemas.openxmlformats.org/officeDocument/2006/relationships/theme" Target="theme/theme1.xml"  /><Relationship Id="rId13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7873058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7873058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14:00~14:10. 팀 이름, 직무, 역할을 정합니다. 제작 PC는 유료 Claude 계정이 있는 사람 노트북으로 정해요.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78730584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78730584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14:10~14:25 불편 모으기, 14:25~14:35 점수. 「현업의 불편 찾기」 교안의 길 1~5를 팀원이 하나씩 맡아요.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SLIDES_API178730584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SLIDES_API178730584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14:35~14:45. 단계를 너무 잘게 나누지 말고 4단계 안에서 적어요. 시간은 대략이어도 괜찮아요(가상 숫자 가능).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S_API178730584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S_API178730584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세 번째 답이 "정해진 창구가 없다", "기록이 한곳에 없다"처럼 구조를 가리키면 좋은 원인이에요.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SLIDES_API178730584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SLIDES_API178730584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오전 실습 4의 판별 기준 그대로입니다. 툴로 제작이 하나도 없으면 주제를 다시 봐야 해요.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SLIDES_API178730584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SLIDES_API178730584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1~5장 내용을 AI에게 넘겨 "기능을 5개로 쪼개줘"라고 하면 초안이 나옵니다. 다 쓰면 파일 → 다운로드 → 일반 텍스트(.txt)나 PDF로 받아 팀 작업 폴더에 넣고, 첫 요청은 "이 파일을 읽고 1번 기능부터 만들어 줘".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SLIDES_API178730584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SLIDES_API178730584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15:10부터 팀당 3분 발표. 2장(불편 모으기)은 자동으로 건너뛰므로 1, 3, 4, 5, 6, 7장만 나옵니다.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3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4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5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6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1.xml"  /><Relationship Id="rId2" Type="http://schemas.openxmlformats.org/officeDocument/2006/relationships/notesSlide" Target="../notesSlides/notesSlide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우리 팀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회색 글씨를 지우고 적어요. 이 장은 발표 첫 장이 됩니다.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04800" y="939800"/>
            <a:ext cx="53340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 cap="flat" cmpd="sng">
            <a:solidFill>
              <a:srgbClr val="ee6a2c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20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5</a:t>
            </a:r>
            <a:r>
              <a:rPr lang="ko" sz="20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팀 · 경영지원 해결사</a:t>
            </a:r>
            <a:endParaRPr lang="ko" sz="20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04800" y="1651000"/>
            <a:ext cx="5334000" cy="507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 4명, 총무 2명</a:t>
            </a:r>
            <a:endParaRPr lang="ko-KR" altLang="en-US"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04800" y="22860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팀원과 역할</a:t>
            </a:r>
            <a:endParaRPr b="1"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04800" y="2514600"/>
            <a:ext cx="13971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이름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1701800" y="2514600"/>
            <a:ext cx="39369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역할 (제작 · 데이터 · 테스트 · 발표 · 기록)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304800" y="2768600"/>
            <a:ext cx="13971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1701800" y="2768600"/>
            <a:ext cx="39369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제작 — 유료 Claude 계정 보유자, AI에게 기능 요청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304800" y="3098800"/>
            <a:ext cx="13971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1701800" y="3098800"/>
            <a:ext cx="39369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 — 가상 결산 요청 항목·부서 데이터 준비 (재무)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5" name="Google Shape;65;p13"/>
          <p:cNvSpPr/>
          <p:nvPr/>
        </p:nvSpPr>
        <p:spPr>
          <a:xfrm>
            <a:off x="304800" y="3429000"/>
            <a:ext cx="13971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1701800" y="3429000"/>
            <a:ext cx="39369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 (2명) — 다른 PC에서 입력·조회 확인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304800" y="3759200"/>
            <a:ext cx="13971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1701800" y="3759200"/>
            <a:ext cx="39369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— 3분 발표와 시연 진행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9" name="Google Shape;69;p13"/>
          <p:cNvSpPr/>
          <p:nvPr/>
        </p:nvSpPr>
        <p:spPr>
          <a:xfrm>
            <a:off x="304800" y="4089400"/>
            <a:ext cx="1397100" cy="3303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701800" y="4089400"/>
            <a:ext cx="3936900" cy="3303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bdbdb8"/>
            </a:solidFill>
            <a:prstDash val="solid"/>
            <a:round/>
            <a:headEnd w="sm" len="sm"/>
            <a:tailEnd w="sm" len="sm"/>
          </a:ln>
        </p:spPr>
        <p:txBody>
          <a:bodyPr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기록 — 워크시트·기획서 정리, 버그 기록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5842000" y="939800"/>
            <a:ext cx="2997300" cy="1219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a1a1a"/>
            </a:solidFill>
            <a:prstDash val="solid"/>
            <a:round/>
            <a:headEnd w="sm" len="sm"/>
            <a:tailEnd w="sm" len="sm"/>
          </a:ln>
        </p:spPr>
        <p:txBody>
          <a:bodyPr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제작 PC</a:t>
            </a:r>
            <a:endParaRPr lang="ko-KR" altLang="en-US"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14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황왕석</a:t>
            </a:r>
            <a:endParaRPr lang="ko-KR" altLang="en-US"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5842000" y="2286000"/>
            <a:ext cx="2997300" cy="81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GitHub 아이디 (선택)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5842000" y="3251200"/>
            <a:ext cx="2997300" cy="1193700"/>
          </a:xfrm>
          <a:prstGeom prst="roundRect">
            <a:avLst>
              <a:gd fmla="val 16667" name="adj"/>
            </a:avLst>
          </a:prstGeom>
          <a:solidFill>
            <a:srgbClr val="FBEDE5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오늘 목표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→ 저장 → 조회되는 프로그램 1개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불편 모으기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때는 자동으로 건너뛰는 장이에요. 팀원이 찾는 길을 나눠 맡아 6개 이상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304800" y="939800"/>
            <a:ext cx="2793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84200" y="939800"/>
            <a:ext cx="33273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불편한 일 (매번 · 일일이 · 취합 · 옮겨 적음)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3911600" y="939800"/>
            <a:ext cx="8382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겪나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4749800" y="939800"/>
            <a:ext cx="11430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04800" y="1193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584200" y="1193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월말 결산 자료(미지급 내역·재고 실사표 등) 제출 여부를 부서마다 메일로 확인·독촉한다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911600" y="1193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 담당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4749800" y="1193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304800" y="1574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584200" y="1574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부서별 경비 내역을 메일로 받아 엑셀로 옮겨 적는다 (ERP로 이미 해결돼 제외)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3911600" y="1574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 담당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749800" y="1574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지인(개발자)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304800" y="1955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584200" y="1955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계약·보험·구독 만료일을 엑셀로 관리하다 갱신 시점을 놓친다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4"/>
          <p:cNvSpPr/>
          <p:nvPr/>
        </p:nvSpPr>
        <p:spPr>
          <a:xfrm>
            <a:off x="3911600" y="1955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총무·재무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4"/>
          <p:cNvSpPr/>
          <p:nvPr/>
        </p:nvSpPr>
        <p:spPr>
          <a:xfrm>
            <a:off x="4749800" y="1955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304800" y="2336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584200" y="2336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비품·소모품 신청을 메신저로 받아 엑셀에 일일이 옮겨 적는다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911600" y="2336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총무 담당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749800" y="2336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304800" y="2717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84200" y="2717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예산 대비 집행률을 부서가 물어볼 때마다 다시 계산한다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3911600" y="2717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재무·각 부서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4749800" y="2717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04800" y="3098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6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584200" y="3098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통장 입금 내역과 거래처 미수금을 매번 하나씩 대조한다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911600" y="3098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 담당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49800" y="3098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304800" y="3479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7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84200" y="3479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공용 노트북·빔프로젝터를 누가 빌려 갔는지 몰라 수소문한다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3911600" y="3479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총무 담당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4749800" y="3479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304800" y="3860800"/>
            <a:ext cx="279300" cy="3810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8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584200" y="3860800"/>
            <a:ext cx="33273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회의실·법인차량 예약을 메신저로 받다가 중복 예약이 생긴다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3911600" y="3860800"/>
            <a:ext cx="8382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총무·전 직원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4749800" y="3860800"/>
            <a:ext cx="1143000" cy="38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인터뷰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019800" y="939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점수 (각 1~5점)</a:t>
            </a:r>
            <a:endParaRPr b="1"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6019800" y="1168400"/>
            <a:ext cx="13209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후보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7340600" y="1168400"/>
            <a:ext cx="3810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자주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7721600" y="1168400"/>
            <a:ext cx="3810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시간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102600" y="1168400"/>
            <a:ext cx="3810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실수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8483600" y="1168400"/>
            <a:ext cx="3555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합계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6019800" y="1422400"/>
            <a:ext cx="1320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① 결산 자료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14"/>
          <p:cNvSpPr/>
          <p:nvPr/>
        </p:nvSpPr>
        <p:spPr>
          <a:xfrm>
            <a:off x="7340600" y="14224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7721600" y="14224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8102600" y="14224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8483600" y="1422400"/>
            <a:ext cx="355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6019800" y="1879600"/>
            <a:ext cx="1320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④ 비품 신청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7340600" y="18796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721600" y="18796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8102600" y="18796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8483600" y="1879600"/>
            <a:ext cx="355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6019800" y="2336800"/>
            <a:ext cx="1320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③ 계약 만료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7340600" y="23368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7721600" y="23368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8102600" y="2336800"/>
            <a:ext cx="3810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483600" y="2336800"/>
            <a:ext cx="355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6019800" y="2819400"/>
            <a:ext cx="2819400" cy="73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결산 자료 제출 여부를 부서마다 메일로 일일이 확인·독촉한다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019800" y="3683000"/>
            <a:ext cx="2819400" cy="762000"/>
          </a:xfrm>
          <a:prstGeom prst="roundRect">
            <a:avLst>
              <a:gd fmla="val 16667" name="adj"/>
            </a:avLst>
          </a:prstGeom>
          <a:solidFill>
            <a:srgbClr val="FBEDE5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14:35까지 못 정하면 합계가 가장 높은 후보로 확정해요</a:t>
            </a:r>
            <a:endParaRPr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304800" y="4495800"/>
            <a:ext cx="8534400" cy="381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어디서 찾았나: 채용공고 · NCS · 현직자 영상·글 · AI 인터뷰 · 지인 · 팀 토의   |   AI 인터뷰 후보는 공고에서 확인되면 ✓ 표시</a:t>
            </a:r>
            <a:endParaRPr sz="9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문제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고른 불편과, 지금 그 일이 어떻게 처리되는지 적어요 (As-Is).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304800" y="939800"/>
            <a:ext cx="8534400" cy="711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월말 결산 때 부서별 자료를 메일로 요청하고, 누가 냈는지 엑셀로 체크하며 일일이 독촉한다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304800" y="1803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지금은 이렇게 (단계마다 하는 일과 걸리는 시간)</a:t>
            </a:r>
            <a:endParaRPr b="1"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304800" y="2057400"/>
            <a:ext cx="1905000" cy="147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1단계 · 요청 메일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부서별로 필요한 결산 자료와 기한을 정리해 메일 발송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 약 1시간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2098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2514600" y="2057400"/>
            <a:ext cx="1905000" cy="147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2단계 · 제출 확인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메일함에서 회신을 찾아 엑셀 체크리스트에 제출 여부 표시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 약 2시간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4196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724400" y="2057400"/>
            <a:ext cx="1905000" cy="147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3단계 · 독촉·재요청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미제출·누락 부서에 메신저·전화로 다시 요청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 약 2시간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6629400" y="26162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6934200" y="2057400"/>
            <a:ext cx="1905000" cy="147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4단계 · 현황 보고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팀장에게 보고하려고 진행 상황을 다시 정리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걸리는 시간: 약 1시간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304800" y="3708400"/>
            <a:ext cx="4191000" cy="73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지금 모두 합쳐 걸리는 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월 약 6시간 (가상 숫자)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4648200" y="3708400"/>
            <a:ext cx="4191000" cy="73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이 불편을 겪나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결산 자료를 모으는 재무·회계 담당자,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기한을 놓치기 쉬운 각 부서 담당자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원인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"왜?"를 세 번 물어요. "사람이 게을러서"로 끝나면 다시 물어요.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304800" y="939800"/>
            <a:ext cx="38100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결산 자료 취합에 오래 걸리나?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54000" y="838200"/>
            <a:ext cx="584100" cy="203100"/>
          </a:xfrm>
          <a:prstGeom prst="roundRect">
            <a:avLst>
              <a:gd fmla="val 16667" name="adj"/>
            </a:avLst>
          </a:prstGeom>
          <a:solidFill>
            <a:srgbClr val="EE6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1</a:t>
            </a:r>
            <a:endParaRPr b="1" sz="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4114800" y="11430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4521200" y="939800"/>
            <a:ext cx="43179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무엇을 냈는지 메일함을 하나씩 열어 확인해야 한다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304800" y="1752600"/>
            <a:ext cx="38100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메일함을 하나씩 봐야 하나?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8" name="Google Shape;168;p16"/>
          <p:cNvSpPr/>
          <p:nvPr/>
        </p:nvSpPr>
        <p:spPr>
          <a:xfrm>
            <a:off x="254000" y="1651000"/>
            <a:ext cx="584100" cy="203100"/>
          </a:xfrm>
          <a:prstGeom prst="roundRect">
            <a:avLst>
              <a:gd fmla="val 16667" name="adj"/>
            </a:avLst>
          </a:prstGeom>
          <a:solidFill>
            <a:srgbClr val="EE6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2</a:t>
            </a:r>
            <a:endParaRPr b="1" sz="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4114800" y="19558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4521200" y="1752600"/>
            <a:ext cx="43179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요청·제출 현황이 담당자 개인 엑셀에만 있어 부서도, 팀장도 진행 상황을 모른다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304800" y="2565400"/>
            <a:ext cx="38100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왜 개인 엑셀에만 있나?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54000" y="2463800"/>
            <a:ext cx="584100" cy="203100"/>
          </a:xfrm>
          <a:prstGeom prst="roundRect">
            <a:avLst>
              <a:gd fmla="val 16667" name="adj"/>
            </a:avLst>
          </a:prstGeom>
          <a:solidFill>
            <a:srgbClr val="EE6A2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3</a:t>
            </a:r>
            <a:endParaRPr b="1" sz="8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4114800" y="27686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4521200" y="2565400"/>
            <a:ext cx="43179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ERP는 제출된 자료로 전표를 처리하는 곳이라, 제출 전 단계를 함께 보는 화면이 없다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304800" y="3454400"/>
            <a:ext cx="8534400" cy="888900"/>
          </a:xfrm>
          <a:prstGeom prst="roundRect">
            <a:avLst>
              <a:gd fmla="val 16667" name="adj"/>
            </a:avLst>
          </a:prstGeom>
          <a:solidFill>
            <a:srgbClr val="FBEDE5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Do Hyeon"/>
                <a:ea typeface="Do Hyeon"/>
                <a:cs typeface="Do Hyeon"/>
                <a:sym typeface="Do Hyeon"/>
              </a:rPr>
              <a:t>진짜 원인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결산 자료의 요청·제출 상태를 모두가 함께 보는 공용 현황판이 없다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해결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바뀐 뒤 모습을 한 줄로, 그리고 AI로 끝낼 일과 툴로 만들 일을 나눠요 (To-Be).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304800" y="939800"/>
            <a:ext cx="853440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5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재무가 요청 항목을 한 번 등록하면, 각 부서가 직접 제출 완료를 표시하고 모두가 같은 화면에서 진행률을 본다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183" name="Google Shape;183;p17"/>
          <p:cNvSpPr/>
          <p:nvPr/>
        </p:nvSpPr>
        <p:spPr>
          <a:xfrm>
            <a:off x="304800" y="1778000"/>
            <a:ext cx="3810000" cy="6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지금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확인·독촉 월 약 6시간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4114800" y="1930400"/>
            <a:ext cx="4065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9A9A95"/>
                </a:solidFill>
                <a:latin typeface="Noto Sans KR"/>
                <a:ea typeface="Noto Sans KR"/>
                <a:cs typeface="Noto Sans KR"/>
                <a:sym typeface="Noto Sans KR"/>
              </a:rPr>
              <a:t>→</a:t>
            </a:r>
            <a:endParaRPr sz="16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4521200" y="1778000"/>
            <a:ext cx="4317900" cy="635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바뀐 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현황판 확인 월 약 1시간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304800" y="25654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AI로? 툴로?  여러 명이 입력하고 기록이 쌓이면 툴이에요</a:t>
            </a:r>
            <a:endParaRPr b="1"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304800" y="2819400"/>
            <a:ext cx="58419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할 일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6146800" y="2819400"/>
            <a:ext cx="26925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AI 채팅으로 / 툴로 제작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04800" y="3073400"/>
            <a:ext cx="5841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결산 요청 항목 등록, 부서별 제출 상태 저장·조회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146800" y="3073400"/>
            <a:ext cx="2692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툴로 제작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304800" y="3530600"/>
            <a:ext cx="5841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기한 임박·미제출 부서 강조, 부서별 진행률 표시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146800" y="3530600"/>
            <a:ext cx="2692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툴로 제작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304800" y="3987800"/>
            <a:ext cx="58419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부서별 결산 자료 요청 안내문, 독촉 메시지 문구 작성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6146800" y="3987800"/>
            <a:ext cx="269250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AI 채팅으로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만들 것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이 장을 다 쓰면 AI에게 기획서로 정리시켜 저녁 제작을 시작해요.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04800" y="939800"/>
            <a:ext cx="3048000" cy="60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결산체크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505200" y="939800"/>
            <a:ext cx="5334000" cy="609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재무 담당자가 결산 자료 요청을 등록하면, 각 부서가 제출 완료를 체크하고 모두가 한 화면에서 진행 상황을 본다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304800" y="1701800"/>
            <a:ext cx="2692500" cy="198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① 입력 화면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[요청 등록] 재무 담당자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결산월 · 자료명 · 담당 부서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제출 기한 · 요청 메모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[제출 체크] 각 부서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제출 완료 · 제출자 · 메모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3124200" y="1701800"/>
            <a:ext cx="2692500" cy="1981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② 조회 화면 (전원 공용)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무엇을 어떻게 보여주나: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부서별 제출 / 미제출 현황표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결산월 · 부서 필터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기한 D-day, 지난 건 빨간색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진행률 (%)</a:t>
            </a:r>
            <a:endParaRPr sz="11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5969000" y="1701800"/>
            <a:ext cx="5079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기능 5개 (16:40부터 이 순서로 요청)</a:t>
            </a:r>
            <a:endParaRPr b="1" sz="10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5969000" y="1930400"/>
            <a:ext cx="2793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#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248400" y="1930400"/>
            <a:ext cx="14985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기능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7747000" y="1930400"/>
            <a:ext cx="1092300" cy="254100"/>
          </a:xfrm>
          <a:prstGeom prst="rect">
            <a:avLst/>
          </a:prstGeom>
          <a:solidFill>
            <a:srgbClr val="1A1A1A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5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 방법</a:t>
            </a:r>
            <a:endParaRPr b="1" sz="85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969000" y="2184400"/>
            <a:ext cx="279300" cy="3429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1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248400" y="2184400"/>
            <a:ext cx="14985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요청 항목 등록·저장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7747000" y="2184400"/>
            <a:ext cx="10923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새로고침해도 남음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5969000" y="2527300"/>
            <a:ext cx="279300" cy="3429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6248400" y="2527300"/>
            <a:ext cx="14985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현황 목록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7747000" y="2527300"/>
            <a:ext cx="10923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PC서도 보임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5969000" y="2870200"/>
            <a:ext cx="279300" cy="3429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3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6248400" y="2870200"/>
            <a:ext cx="14985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부서 제출 완료 체크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7747000" y="2870200"/>
            <a:ext cx="10923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상태가 바로 바뀜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5969000" y="3213100"/>
            <a:ext cx="279300" cy="3429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4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6248400" y="3213100"/>
            <a:ext cx="14985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기한 임박·지연 강조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7747000" y="3213100"/>
            <a:ext cx="10923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건 빨간색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5969000" y="3556000"/>
            <a:ext cx="279300" cy="342900"/>
          </a:xfrm>
          <a:prstGeom prst="rect">
            <a:avLst/>
          </a:prstGeom>
          <a:solidFill>
            <a:srgbClr val="F2F2EE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5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48400" y="3556000"/>
            <a:ext cx="14985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필터 · 진행률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7747000" y="3556000"/>
            <a:ext cx="1092300" cy="342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DBD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5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목록과 숫자 일치</a:t>
            </a:r>
            <a:endParaRPr sz="95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4" name="Google Shape;224;p18"/>
          <p:cNvSpPr/>
          <p:nvPr/>
        </p:nvSpPr>
        <p:spPr>
          <a:xfrm>
            <a:off x="304800" y="3835400"/>
            <a:ext cx="8534400" cy="609600"/>
          </a:xfrm>
          <a:prstGeom prst="roundRect">
            <a:avLst>
              <a:gd fmla="val 16667" name="adj"/>
            </a:avLst>
          </a:prstGeom>
          <a:solidFill>
            <a:srgbClr val="FBEDE5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완성 기준: 입력 → 저장 → 다른 사람 화면에서 조회 + 인터넷 주소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/>
        </p:nvSpPr>
        <p:spPr>
          <a:xfrm>
            <a:off x="304800" y="152400"/>
            <a:ext cx="5969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600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기대 효과</a:t>
            </a:r>
            <a:endParaRPr sz="2600">
              <a:solidFill>
                <a:srgbClr val="1A1A1A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0" name="Google Shape;230;p19"/>
          <p:cNvSpPr txBox="1"/>
          <p:nvPr/>
        </p:nvSpPr>
        <p:spPr>
          <a:xfrm>
            <a:off x="304800" y="609600"/>
            <a:ext cx="853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발표 마지막 장이에요. 2일차 시연 때 다시 채워요.</a:t>
            </a:r>
            <a:endParaRPr sz="1000">
              <a:solidFill>
                <a:srgbClr val="C2500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04800" y="939800"/>
            <a:ext cx="8534400" cy="762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 b="1">
                <a:solidFill>
                  <a:srgbClr val="1A1A1A"/>
                </a:solidFill>
                <a:latin typeface="Do Hyeon"/>
                <a:ea typeface="Do Hyeon"/>
                <a:cs typeface="Do Hyeon"/>
                <a:sym typeface="Do Hyeon"/>
              </a:rPr>
              <a:t>매달 결산 자료를 쫓아다니던 재무·회계 담당자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B6B66"/>
                </a:solidFill>
                <a:latin typeface="Do Hyeon"/>
                <a:ea typeface="Do Hyeon"/>
                <a:cs typeface="Do Hyeon"/>
                <a:sym typeface="Do Hyeon"/>
              </a:rPr>
              <a:t>각 부서도 우리 부서가 낼 자료와 기한을 바로 확인해 독촉 연락이 줄어요</a:t>
            </a:r>
            <a:endParaRPr sz="1600">
              <a:solidFill>
                <a:srgbClr val="9A9A95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304800" y="1854200"/>
            <a:ext cx="4191000" cy="13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AI가 한 일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불편 후보 제안, 기존 솔루션 사실 확인,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화면 코드 작성, 기획서 정리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4648200" y="1854200"/>
            <a:ext cx="4191000" cy="1397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E6A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 b="1">
                <a:solidFill>
                  <a:srgbClr val="C2500D"/>
                </a:solidFill>
                <a:latin typeface="Noto Sans KR"/>
                <a:ea typeface="Noto Sans KR"/>
                <a:cs typeface="Noto Sans KR"/>
                <a:sym typeface="Noto Sans KR"/>
              </a:rPr>
              <a:t>우리 팀이 한 일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개발 담당자 확인으로 주제 재선정·투표,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원인 분석, 기능 순서 결정, 직접 테스트</a:t>
            </a:r>
            <a:endParaRPr sz="1200">
              <a:solidFill>
                <a:srgbClr val="9A9A9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304800" y="3403600"/>
            <a:ext cx="8534400" cy="1041300"/>
          </a:xfrm>
          <a:prstGeom prst="roundRect">
            <a:avLst>
              <a:gd fmla="val 16667" name="adj"/>
            </a:avLst>
          </a:prstGeom>
          <a:solidFill>
            <a:srgbClr val="F2F2EE"/>
          </a:solidFill>
          <a:ln cap="flat" cmpd="sng" w="1905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A1A1A"/>
                </a:solidFill>
                <a:latin typeface="Noto Sans KR"/>
                <a:ea typeface="Noto Sans KR"/>
                <a:cs typeface="Noto Sans KR"/>
                <a:sym typeface="Noto Sans KR"/>
              </a:rPr>
              <a:t>2일차에 채우기: 직접 눌러서 확인한 버그나 안 되는 기능 1개, 다른 팀이 알려준 개선점 1개</a:t>
            </a:r>
            <a:endParaRPr sz="1100">
              <a:solidFill>
                <a:srgbClr val="1A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766</ep:Words>
  <ep:PresentationFormat/>
  <ep:Paragraphs>188</ep:Paragraphs>
  <ep:Slides>7</ep:Slides>
  <ep:Notes>7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Simple Light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SAMSUNG</cp:lastModifiedBy>
  <dcterms:modified xsi:type="dcterms:W3CDTF">2026-10-01T07:55:14.684</dcterms:modified>
  <cp:revision>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